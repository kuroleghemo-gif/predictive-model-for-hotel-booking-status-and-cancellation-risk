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5" r:id="rId16"/>
    <p:sldId id="270" r:id="rId17"/>
    <p:sldId id="286" r:id="rId18"/>
    <p:sldId id="287" r:id="rId19"/>
    <p:sldId id="288" r:id="rId20"/>
    <p:sldId id="289" r:id="rId21"/>
    <p:sldId id="279" r:id="rId22"/>
    <p:sldId id="291" r:id="rId23"/>
    <p:sldId id="293" r:id="rId24"/>
    <p:sldId id="290" r:id="rId25"/>
    <p:sldId id="281" r:id="rId26"/>
    <p:sldId id="294" r:id="rId27"/>
  </p:sldIdLst>
  <p:sldSz cx="18288000" cy="10287000"/>
  <p:notesSz cx="6858000" cy="9144000"/>
  <p:embeddedFontLst>
    <p:embeddedFont>
      <p:font typeface="Codec Pro" panose="020B0604020202020204" charset="0"/>
      <p:regular r:id="rId29"/>
    </p:embeddedFont>
    <p:embeddedFont>
      <p:font typeface="Codec Pro Bold" panose="020B0604020202020204" charset="0"/>
      <p:regular r:id="rId30"/>
    </p:embeddedFont>
    <p:embeddedFont>
      <p:font typeface="Times New Roman Bold" panose="02020803070505020304" pitchFamily="18" charset="0"/>
      <p:regular r:id="rId31"/>
      <p:bold r:id="rId32"/>
    </p:embeddedFont>
    <p:embeddedFont>
      <p:font typeface="Times New Roman Bold Italic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5798" autoAdjust="0"/>
  </p:normalViewPr>
  <p:slideViewPr>
    <p:cSldViewPr>
      <p:cViewPr>
        <p:scale>
          <a:sx n="40" d="100"/>
          <a:sy n="40" d="100"/>
        </p:scale>
        <p:origin x="111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0EC82-80F3-45F2-9594-E5F123886312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D75C8-43AF-4B5F-B620-A605BF78FF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76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Background: </a:t>
            </a:r>
            <a:r>
              <a:rPr lang="en-US" sz="1200" dirty="0">
                <a:solidFill>
                  <a:srgbClr val="FFFFFF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The hospitality industry operates on one critical principle: Inventory is perishable.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unsold hotel room tonight can never be sold again tomorrow. Because of this, hotel booking cancellations or no-shows translates to direct </a:t>
            </a:r>
            <a:r>
              <a:rPr lang="en-GB" dirty="0"/>
              <a:t>operational losses. Staff allocated to that room are still paid for the unproductive hours, utilities are consumed in preparation for a guest who never arrives, and the window to resell that room to another guest shrinks.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459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056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072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811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Booking ID, P-C and P-not-C </a:t>
            </a:r>
          </a:p>
          <a:p>
            <a:r>
              <a:rPr lang="en-GB" dirty="0"/>
              <a:t>Repetitive columns: The columns P-C, P-not-C had similar information with the column for ‘repeated’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574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Insight: 1 in 3 bookings were cancelled, which is significantly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377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Budget to mid-range rooms ($0-$200) dominate Hotel Haven's bookings, with the hotel's revenue and cancellation risk both heavily concentrated in this segment, suggesting price as strong predictor of cancellations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706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Codec Pro" panose="020B0604020202020204" charset="0"/>
                <a:ea typeface="+mn-ea"/>
                <a:cs typeface="+mn-cs"/>
              </a:rPr>
              <a:t>Lead time is the dominant cancellation driver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Codec Pro" panose="020B0604020202020204" charset="0"/>
                <a:ea typeface="+mn-ea"/>
                <a:cs typeface="+mn-cs"/>
              </a:rPr>
              <a:t>: the longer a guest books in advance, the more likely they are to cancel, regardless of price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>
                <a:latin typeface="Codec Pro" panose="020B0604020202020204" charset="0"/>
              </a:rPr>
              <a:t>Short lead time bookings are the safest: </a:t>
            </a:r>
            <a:r>
              <a:rPr lang="en-GB" b="0" dirty="0">
                <a:latin typeface="Codec Pro" panose="020B0604020202020204" charset="0"/>
              </a:rPr>
              <a:t>Guests who </a:t>
            </a:r>
            <a:r>
              <a:rPr lang="en-GB" dirty="0">
                <a:latin typeface="Codec Pro" panose="020B0604020202020204" charset="0"/>
              </a:rPr>
              <a:t>book &lt;=30 days before arrival are far more likely to follow through, making them Hotel Haven's most dependable customer segment for resource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190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Room Type 6 has highest cancellation rate (42%), slightly higher, making it Hotel Haven's most at-risk room inventory, Room Type 7 is the most reliable with the lowest cancellation rate (23%)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absence of descriptive information about each room type limits our ability to explain why certain room types experience higher cancellation rates than 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041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With only 11% cancellation rate, corporate guests demonstrate strong booking commitment, representing a stable and predictable revenue stream and efficient resource planning segments and inefficient resource allocation at a cancellation rate of 37%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Complementary bookings have a 0% cancellation rate, strategic bookings provided at no charge to partners, loyalty members, or media, guests have no reason to cancel. While they generate no direct revenue, they can serve as a basis for revenue generation via verbal referrals, and positive reviews for Hotel Haven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442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9F2DF-8B59-12A7-F31F-4B8E1723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870C4-F6B9-34DA-A7A2-ADA9E7769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77CEA-A58F-72A8-9C4A-4FAE83A3B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 commitment = 43.2% cancelled, 1 special request = 23.8% cancelled, 2 special request = 14.6% cancelled, 3-5 = nil request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5961-18C0-B143-A51E-47081FBFE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146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EBF9-4AF8-1AEB-B464-B0FC9085E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1516D-F5DC-9206-D1C1-BD1B39B5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EBCFD-41E2-26FC-6C80-75B0EA096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9C27E-7C28-9CCF-40F3-8FB8FC4A7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513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889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Business Implication: </a:t>
            </a:r>
            <a:r>
              <a:rPr lang="en-GB" dirty="0">
                <a:effectLst/>
              </a:rPr>
              <a:t>The model demonstrated strong predictive performance, with 90% accuracy, 90% F1 score, and a 96% ROC-AUC score, indicating that it can reliably identify booking cancellations and support better operational decision-making and improve profitability.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D75C8-43AF-4B5F-B620-A605BF78FF6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18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telminder.com/8-tips-to-reduce-last-minute-hotel-cancellations-and-no-shows" TargetMode="External"/><Relationship Id="rId2" Type="http://schemas.openxmlformats.org/officeDocument/2006/relationships/hyperlink" Target="https://www.d-edge.com/avoid-guests-ghosting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8700" y="1028700"/>
            <a:ext cx="11190824" cy="6471612"/>
            <a:chOff x="0" y="0"/>
            <a:chExt cx="14921099" cy="8628816"/>
          </a:xfrm>
        </p:grpSpPr>
        <p:sp>
          <p:nvSpPr>
            <p:cNvPr id="6" name="TextBox 6"/>
            <p:cNvSpPr txBox="1"/>
            <p:nvPr/>
          </p:nvSpPr>
          <p:spPr>
            <a:xfrm>
              <a:off x="0" y="47625"/>
              <a:ext cx="14921099" cy="8292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 Predictive Model for Hotel Booking Status and Cancellation Risk</a:t>
              </a:r>
            </a:p>
            <a:p>
              <a:pPr algn="l">
                <a:lnSpc>
                  <a:spcPts val="9679"/>
                </a:lnSpc>
              </a:pPr>
              <a:endParaRPr lang="en-US" sz="87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l">
                <a:lnSpc>
                  <a:spcPts val="9679"/>
                </a:lnSpc>
              </a:pPr>
              <a:endParaRPr lang="en-US" sz="87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200066"/>
              <a:ext cx="14921099" cy="1428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99"/>
                </a:lnSpc>
              </a:pPr>
              <a:r>
                <a:rPr lang="en-US" sz="3999" b="1" i="1" dirty="0">
                  <a:solidFill>
                    <a:srgbClr val="FFFFFF"/>
                  </a:solidFill>
                  <a:latin typeface="Times New Roman Bold Italics"/>
                  <a:ea typeface="Times New Roman Bold Italics"/>
                  <a:cs typeface="Times New Roman Bold Italics"/>
                  <a:sym typeface="Times New Roman Bold Italics"/>
                </a:rPr>
                <a:t>Data-driven insights for better customer retention</a:t>
              </a:r>
            </a:p>
            <a:p>
              <a:pPr algn="l">
                <a:lnSpc>
                  <a:spcPts val="3850"/>
                </a:lnSpc>
              </a:pPr>
              <a:endParaRPr lang="en-US" sz="3999" b="1" i="1" dirty="0">
                <a:solidFill>
                  <a:srgbClr val="FFFFFF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endParaRPr>
            </a:p>
          </p:txBody>
        </p:sp>
      </p:grpSp>
      <p:sp>
        <p:nvSpPr>
          <p:cNvPr id="8" name="Auto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08867" y="5129212"/>
            <a:ext cx="10287000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14538397" y="8050312"/>
            <a:ext cx="274289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067966" y="1443308"/>
            <a:ext cx="3100623" cy="658306"/>
          </a:xfrm>
          <a:custGeom>
            <a:avLst/>
            <a:gdLst/>
            <a:ahLst/>
            <a:cxnLst/>
            <a:rect l="l" t="t" r="r" b="b"/>
            <a:pathLst>
              <a:path w="3100623" h="658306">
                <a:moveTo>
                  <a:pt x="0" y="0"/>
                </a:moveTo>
                <a:lnTo>
                  <a:pt x="3100623" y="0"/>
                </a:lnTo>
                <a:lnTo>
                  <a:pt x="3100623" y="658306"/>
                </a:lnTo>
                <a:lnTo>
                  <a:pt x="0" y="65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4538397" y="6831562"/>
            <a:ext cx="302614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Presented by: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Kuroyefa Leghemo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38397" y="8467725"/>
            <a:ext cx="302614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 Presented:</a:t>
            </a: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May 16th,</a:t>
            </a:r>
            <a:r>
              <a:rPr lang="en-US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41490" y="9197919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73092"/>
            <a:ext cx="18288000" cy="5177378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28700" y="2127448"/>
            <a:ext cx="8115300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80"/>
              </a:lnSpc>
              <a:spcBef>
                <a:spcPct val="0"/>
              </a:spcBef>
            </a:pPr>
            <a:r>
              <a:rPr lang="en-US" sz="89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Outline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1261596"/>
            <a:ext cx="3100623" cy="658306"/>
          </a:xfrm>
          <a:custGeom>
            <a:avLst/>
            <a:gdLst/>
            <a:ahLst/>
            <a:cxnLst/>
            <a:rect l="l" t="t" r="r" b="b"/>
            <a:pathLst>
              <a:path w="3100623" h="658306">
                <a:moveTo>
                  <a:pt x="0" y="0"/>
                </a:moveTo>
                <a:lnTo>
                  <a:pt x="3100623" y="0"/>
                </a:lnTo>
                <a:lnTo>
                  <a:pt x="3100623" y="658307"/>
                </a:lnTo>
                <a:lnTo>
                  <a:pt x="0" y="658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2DC5B6F2-9F94-AC7A-4165-BEC1C5DF9CD2}"/>
              </a:ext>
            </a:extLst>
          </p:cNvPr>
          <p:cNvSpPr txBox="1"/>
          <p:nvPr/>
        </p:nvSpPr>
        <p:spPr>
          <a:xfrm>
            <a:off x="457200" y="5362575"/>
            <a:ext cx="8686800" cy="410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Business Introduction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Problem Statement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Objectives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Key Business Questions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Data Description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Methodology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Insights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Model Performance Evaluation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Recommendations</a:t>
            </a: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Conclusions</a:t>
            </a:r>
            <a:endParaRPr lang="en-US" sz="3000" u="none" strike="noStrike" dirty="0">
              <a:solidFill>
                <a:srgbClr val="365236"/>
              </a:solidFill>
              <a:latin typeface="Codec Pro" panose="020B0604020202020204" charset="0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918669"/>
            <a:ext cx="18288000" cy="2368331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9085249" y="1057275"/>
            <a:ext cx="8174051" cy="250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  <a:spcBef>
                <a:spcPct val="0"/>
              </a:spcBef>
            </a:pPr>
            <a:r>
              <a:rPr lang="en-US" sz="9000" b="1" u="none" strike="noStrike" dirty="0">
                <a:solidFill>
                  <a:srgbClr val="7C987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Business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85249" y="3419475"/>
            <a:ext cx="6310377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1"/>
              </a:lnSpc>
              <a:spcBef>
                <a:spcPct val="0"/>
              </a:spcBef>
            </a:pPr>
            <a:endParaRPr lang="en-US" sz="2675" b="1" u="none" strike="noStrike" dirty="0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0" lvl="0" indent="0" algn="l">
              <a:lnSpc>
                <a:spcPts val="3211"/>
              </a:lnSpc>
              <a:spcBef>
                <a:spcPct val="0"/>
              </a:spcBef>
            </a:pPr>
            <a:endParaRPr lang="en-US" sz="2675" b="1" dirty="0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marL="457200" lvl="0" indent="-457200" algn="l">
              <a:lnSpc>
                <a:spcPts val="3211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675" u="none" strike="noStrike" dirty="0">
                <a:solidFill>
                  <a:srgbClr val="365236"/>
                </a:solidFill>
                <a:latin typeface="Codec Pro" panose="020B0604020202020204" charset="0"/>
                <a:ea typeface="Codec Pro Bold"/>
                <a:cs typeface="Codec Pro Bold"/>
                <a:sym typeface="Codec Pro Bold"/>
              </a:rPr>
              <a:t>Hotel Haven is a luxury hotel chain with multiple locations that offers a wide range of services including rooms, meal plans, and parking services</a:t>
            </a:r>
          </a:p>
          <a:p>
            <a:pPr marL="0" lvl="0" indent="0" algn="l">
              <a:lnSpc>
                <a:spcPts val="3211"/>
              </a:lnSpc>
              <a:spcBef>
                <a:spcPct val="0"/>
              </a:spcBef>
            </a:pPr>
            <a:endParaRPr lang="en-US" sz="2675" u="none" strike="noStrike" dirty="0">
              <a:solidFill>
                <a:srgbClr val="365236"/>
              </a:solidFill>
              <a:latin typeface="Codec Pro" panose="020B0604020202020204" charset="0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95533-AD22-6378-0F99-74BE1DD16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92" y="1057275"/>
            <a:ext cx="8578992" cy="652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9099" y="446080"/>
            <a:ext cx="10295237" cy="250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4676159"/>
            <a:ext cx="5147618" cy="4578910"/>
            <a:chOff x="0" y="0"/>
            <a:chExt cx="6863491" cy="6105214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6863491" cy="6105214"/>
            </a:xfrm>
            <a:prstGeom prst="rect">
              <a:avLst/>
            </a:prstGeom>
            <a:solidFill>
              <a:srgbClr val="365236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07463" y="2357012"/>
              <a:ext cx="5248566" cy="1165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Struggle with high cancellation rate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07463" y="1110715"/>
              <a:ext cx="5248566" cy="91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4200" u="none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39264" y="4676159"/>
            <a:ext cx="5097220" cy="4582353"/>
            <a:chOff x="0" y="0"/>
            <a:chExt cx="6796293" cy="6109804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6796293" cy="6109804"/>
            </a:xfrm>
            <a:prstGeom prst="rect">
              <a:avLst/>
            </a:prstGeom>
            <a:solidFill>
              <a:srgbClr val="7C987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9557" y="2166549"/>
              <a:ext cx="5197179" cy="1575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Lost revenue and inefficient resource allocation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9557" y="1012750"/>
              <a:ext cx="5197179" cy="846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850" u="none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03184" y="4676159"/>
            <a:ext cx="5147618" cy="4578910"/>
            <a:chOff x="0" y="0"/>
            <a:chExt cx="6863491" cy="610521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6863491" cy="6105214"/>
            </a:xfrm>
            <a:prstGeom prst="rect">
              <a:avLst/>
            </a:prstGeom>
            <a:solidFill>
              <a:srgbClr val="D6EAD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7463" y="2446182"/>
              <a:ext cx="5248566" cy="1165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00000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Limited insight into cancellation reasons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7463" y="952231"/>
              <a:ext cx="5248566" cy="917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4200" u="none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03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079099" y="2951155"/>
            <a:ext cx="15871704" cy="1331886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50" y="0"/>
            <a:ext cx="6556917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314333" y="895350"/>
            <a:ext cx="6261634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72524" y="571500"/>
            <a:ext cx="9472409" cy="933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Clean and prepare the hotel booking dataset for analysis and modeling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Explore booking data to understand patterns, and cancellation behavior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Perform comprehensive analysis to identify key factors influencing booking cancellations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Engineer meaningful features that improve analysis and model performance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Develop a machine learning model to predict booking status accurately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Evaluate model performance using appropriate metrics for classification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Fine-tune the model to improve accuracy and reliability</a:t>
            </a:r>
          </a:p>
          <a:p>
            <a:pPr marL="657505" lvl="1" indent="-328752" algn="l">
              <a:lnSpc>
                <a:spcPts val="4263"/>
              </a:lnSpc>
              <a:buFont typeface="Arial"/>
              <a:buChar char="•"/>
            </a:pPr>
            <a:r>
              <a:rPr lang="en-US" sz="3000" dirty="0">
                <a:solidFill>
                  <a:srgbClr val="365236"/>
                </a:solidFill>
                <a:latin typeface="Codec Pro"/>
                <a:ea typeface="Codec Pro"/>
                <a:cs typeface="Times New Roman" panose="02020603050405020304" pitchFamily="18" charset="0"/>
                <a:sym typeface="Codec Pro"/>
              </a:rPr>
              <a:t>Generate actionable insights that support better customer retention and reduce cancellations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05487"/>
            <a:chOff x="0" y="0"/>
            <a:chExt cx="4816593" cy="844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44244"/>
            </a:xfrm>
            <a:custGeom>
              <a:avLst/>
              <a:gdLst/>
              <a:ahLst/>
              <a:cxnLst/>
              <a:rect l="l" t="t" r="r" b="b"/>
              <a:pathLst>
                <a:path w="4816592" h="844244">
                  <a:moveTo>
                    <a:pt x="0" y="0"/>
                  </a:moveTo>
                  <a:lnTo>
                    <a:pt x="4816592" y="0"/>
                  </a:lnTo>
                  <a:lnTo>
                    <a:pt x="4816592" y="844244"/>
                  </a:lnTo>
                  <a:lnTo>
                    <a:pt x="0" y="8442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92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789726"/>
              </p:ext>
            </p:extLst>
          </p:nvPr>
        </p:nvGraphicFramePr>
        <p:xfrm>
          <a:off x="1441197" y="1858596"/>
          <a:ext cx="15405602" cy="8170730"/>
        </p:xfrm>
        <a:graphic>
          <a:graphicData uri="http://schemas.openxmlformats.org/drawingml/2006/table">
            <a:tbl>
              <a:tblPr/>
              <a:tblGrid>
                <a:gridCol w="15405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219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 dirty="0">
                          <a:solidFill>
                            <a:srgbClr val="FFFFFF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Questions Addressed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727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141E14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How does  cancellation compare to honored bookings in Hotel Haven?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4004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What is the financial impact of cancellations on Hotel Haven’s revenue?</a:t>
                      </a:r>
                      <a:endParaRPr lang="en-US" sz="1100" dirty="0"/>
                    </a:p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Are higher-priced bookings cancelled more than lower-priced ones?</a:t>
                      </a:r>
                    </a:p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Are expensive bookings made far in advance more likely to be canceled?</a:t>
                      </a:r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957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 Are guests booked into certain room types more likely to follow through with their reservations?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957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Does the market segment through which a guest books influence their booking status at Hotel Haven?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62887">
                <a:tc>
                  <a:txBody>
                    <a:bodyPr/>
                    <a:lstStyle/>
                    <a:p>
                      <a:pPr marL="604511" lvl="1" indent="-302256" algn="l">
                        <a:lnSpc>
                          <a:spcPts val="39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Is the number of special requests a reliable signal of a guest's intention to honor their booking?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35754" y="363171"/>
            <a:ext cx="16216492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Key Business Questions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05487"/>
            <a:chOff x="0" y="0"/>
            <a:chExt cx="4816593" cy="844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44244"/>
            </a:xfrm>
            <a:custGeom>
              <a:avLst/>
              <a:gdLst/>
              <a:ahLst/>
              <a:cxnLst/>
              <a:rect l="l" t="t" r="r" b="b"/>
              <a:pathLst>
                <a:path w="4816592" h="844244">
                  <a:moveTo>
                    <a:pt x="0" y="0"/>
                  </a:moveTo>
                  <a:lnTo>
                    <a:pt x="4816592" y="0"/>
                  </a:lnTo>
                  <a:lnTo>
                    <a:pt x="4816592" y="844244"/>
                  </a:lnTo>
                  <a:lnTo>
                    <a:pt x="0" y="8442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92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14621"/>
              </p:ext>
            </p:extLst>
          </p:nvPr>
        </p:nvGraphicFramePr>
        <p:xfrm>
          <a:off x="1436363" y="2023017"/>
          <a:ext cx="15415270" cy="7868288"/>
        </p:xfrm>
        <a:graphic>
          <a:graphicData uri="http://schemas.openxmlformats.org/drawingml/2006/table">
            <a:tbl>
              <a:tblPr/>
              <a:tblGrid>
                <a:gridCol w="15415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4974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4608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>
                          <a:solidFill>
                            <a:srgbClr val="141E14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Source of Data: 10Alytics</a:t>
                      </a:r>
                      <a:endParaRPr lang="en-US" sz="110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816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Size : 36,285 rows x  17 columns (16 features and 1 target) bookings records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246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Period : Feb 2015 - December 2018 (3 years, 11 months)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1870">
                <a:tc>
                  <a:txBody>
                    <a:bodyPr/>
                    <a:lstStyle/>
                    <a:p>
                      <a:pPr marL="582925" lvl="1" indent="-291463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dirty="0">
                          <a:solidFill>
                            <a:srgbClr val="000000"/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Key Features : booking ID, number of adults, number of children, number of weekend nights, number of weeknights, type of meal, car parking space, room type, lead time, market segment type, repeat, P-C, P-NOT-C, average price, special requests, date of reservation, booking status</a:t>
                      </a: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035754" y="363171"/>
            <a:ext cx="16216492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Description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9099" y="446080"/>
            <a:ext cx="10295237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16803" y="7247354"/>
            <a:ext cx="12447778" cy="7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3"/>
              </a:lnSpc>
              <a:spcBef>
                <a:spcPct val="0"/>
              </a:spcBef>
            </a:pPr>
            <a:r>
              <a:rPr lang="en-US" sz="4269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434605"/>
            <a:ext cx="16012790" cy="5296511"/>
            <a:chOff x="0" y="0"/>
            <a:chExt cx="21350387" cy="7062015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21350387" cy="7062015"/>
            </a:xfrm>
            <a:prstGeom prst="rect">
              <a:avLst/>
            </a:prstGeom>
            <a:solidFill>
              <a:srgbClr val="D6EAD6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2757" y="209555"/>
              <a:ext cx="16326810" cy="675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82"/>
                </a:lnSpc>
                <a:spcBef>
                  <a:spcPct val="0"/>
                </a:spcBef>
              </a:pPr>
              <a:r>
                <a:rPr lang="en-US" sz="3152" b="1">
                  <a:solidFill>
                    <a:srgbClr val="365236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Data Cleaning and Preprocessing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57126" y="4136512"/>
            <a:ext cx="15743278" cy="371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6080" lvl="1" indent="-268040">
              <a:lnSpc>
                <a:spcPts val="2979"/>
              </a:lnSpc>
              <a:buFont typeface="Arial"/>
              <a:buChar char="•"/>
            </a:pP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Relevant libraries imported and the dataset(CSV file) was loaded into </a:t>
            </a:r>
            <a:r>
              <a:rPr lang="en-US" sz="2483" dirty="0" err="1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jupyter</a:t>
            </a: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 notebook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1740770"/>
            <a:ext cx="15871704" cy="1331886"/>
            <a:chOff x="0" y="0"/>
            <a:chExt cx="21162272" cy="1775848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21162272" cy="1775848"/>
            </a:xfrm>
            <a:prstGeom prst="rect">
              <a:avLst/>
            </a:prstGeom>
            <a:solidFill>
              <a:srgbClr val="36523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1235" y="523794"/>
              <a:ext cx="16182957" cy="680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49"/>
                </a:lnSpc>
                <a:spcBef>
                  <a:spcPct val="0"/>
                </a:spcBef>
              </a:pPr>
              <a:r>
                <a:rPr lang="en-US" sz="3124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CRISP DM approach adopted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57126" y="4610100"/>
            <a:ext cx="15743278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080" lvl="1" indent="-268040" algn="l">
              <a:lnSpc>
                <a:spcPts val="2979"/>
              </a:lnSpc>
              <a:buFont typeface="Arial"/>
              <a:buChar char="•"/>
            </a:pP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Data exploration done to understand the data types, quality and structure</a:t>
            </a:r>
          </a:p>
          <a:p>
            <a:pPr marL="536080" lvl="1" indent="-268040" algn="l">
              <a:lnSpc>
                <a:spcPts val="2979"/>
              </a:lnSpc>
              <a:buFont typeface="Arial"/>
              <a:buChar char="•"/>
            </a:pP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Descriptive analysis performed to summarize key metrics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052" y="5448300"/>
            <a:ext cx="15883631" cy="1152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6080" lvl="1" indent="-268040" algn="l">
              <a:lnSpc>
                <a:spcPts val="2979"/>
              </a:lnSpc>
              <a:buFont typeface="Arial"/>
              <a:buChar char="•"/>
            </a:pP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37 booking records were found to contain an invalid date; February 29, 2018 ( not a leap year), a possible system bug or data entry error during that period. All affected records were corrected to February 28, 2018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9053" y="6638925"/>
            <a:ext cx="15743278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080" lvl="1" indent="-268040" algn="l">
              <a:lnSpc>
                <a:spcPts val="2979"/>
              </a:lnSpc>
              <a:buFont typeface="Arial"/>
              <a:buChar char="•"/>
            </a:pP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No missing or duplicated values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3122" y="7134123"/>
            <a:ext cx="15743278" cy="3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6080" lvl="1" indent="-268040" algn="l">
              <a:lnSpc>
                <a:spcPts val="2979"/>
              </a:lnSpc>
              <a:buFont typeface="Arial"/>
              <a:buChar char="•"/>
            </a:pPr>
            <a:r>
              <a:rPr lang="en-US" sz="2483" dirty="0">
                <a:solidFill>
                  <a:srgbClr val="365236"/>
                </a:solidFill>
                <a:latin typeface="Codec Pro"/>
                <a:ea typeface="Codec Pro"/>
                <a:cs typeface="Codec Pro"/>
                <a:sym typeface="Codec Pro"/>
              </a:rPr>
              <a:t>Wrong data type corrected appropriately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9099" y="446080"/>
            <a:ext cx="10295237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16803" y="7247354"/>
            <a:ext cx="12447778" cy="7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3"/>
              </a:lnSpc>
              <a:spcBef>
                <a:spcPct val="0"/>
              </a:spcBef>
            </a:pPr>
            <a:r>
              <a:rPr lang="en-US" sz="4269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099" y="1694295"/>
            <a:ext cx="15897446" cy="2147827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1079099" y="4135114"/>
            <a:ext cx="15871704" cy="4007205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8" name="TextBox 8"/>
          <p:cNvSpPr txBox="1"/>
          <p:nvPr/>
        </p:nvSpPr>
        <p:spPr>
          <a:xfrm>
            <a:off x="1418130" y="2939658"/>
            <a:ext cx="1519364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Comprehensive data analysis and visualizations were done to uncover patterns in factors influencing booking cancellations</a:t>
            </a:r>
          </a:p>
        </p:txBody>
      </p:sp>
      <p:sp>
        <p:nvSpPr>
          <p:cNvPr id="9" name="AutoShape 9"/>
          <p:cNvSpPr/>
          <p:nvPr/>
        </p:nvSpPr>
        <p:spPr>
          <a:xfrm>
            <a:off x="1104840" y="8323294"/>
            <a:ext cx="15871704" cy="740579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233267" y="4207978"/>
            <a:ext cx="12137218" cy="47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3149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Data Preprocessing (cont’d)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8130" y="4808053"/>
            <a:ext cx="14597165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Irrelevant and repetitive columns were dropped (P-C and  P-not = repeated)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3267" y="1832790"/>
            <a:ext cx="121372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Exploratory Data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8130" y="5293828"/>
            <a:ext cx="14597165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Outliers were investigated and removed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8130" y="5739347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Encoding of categorical variables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8130" y="6284879"/>
            <a:ext cx="14597165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Scaling of numerical data with Robust Scaler (mild - heavy skewness)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8130" y="6827804"/>
            <a:ext cx="1459716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The target had class distribution </a:t>
            </a:r>
            <a:r>
              <a:rPr lang="en-US" sz="2480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inbalanced</a:t>
            </a: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(</a:t>
            </a:r>
            <a:r>
              <a:rPr lang="en-GB" sz="2480" dirty="0">
                <a:solidFill>
                  <a:srgbClr val="FFFFFF"/>
                </a:solidFill>
                <a:latin typeface="Codec Pro"/>
              </a:rPr>
              <a:t>67:33 </a:t>
            </a: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), which was handled using (Synthetic Minority Oversampling Technique (SMOTE)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267" y="8407833"/>
            <a:ext cx="121372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3149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Final Cross-Validation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3872" y="2396733"/>
            <a:ext cx="15193640" cy="3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Features engineering: revenue column generated to enhance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9099" y="446080"/>
            <a:ext cx="10295237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16803" y="7247354"/>
            <a:ext cx="12447778" cy="7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23"/>
              </a:lnSpc>
              <a:spcBef>
                <a:spcPct val="0"/>
              </a:spcBef>
            </a:pPr>
            <a:r>
              <a:rPr lang="en-US" sz="4269" u="none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1079099" y="1694295"/>
            <a:ext cx="15962392" cy="2179271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1079099" y="4083116"/>
            <a:ext cx="15897446" cy="3555282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317128" y="1999616"/>
            <a:ext cx="121372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Modelling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840" y="2745830"/>
            <a:ext cx="14597165" cy="75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Trained Baseline Model - Logistic Regression model (78% prediction accuracy, F1-score and recall)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4840" y="426235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Trained Multiple Advanced  Classification Models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5417" y="4671925"/>
            <a:ext cx="5469783" cy="2411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Random Forest (best performance)</a:t>
            </a:r>
          </a:p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Gradient Boosting</a:t>
            </a:r>
          </a:p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Ada Boost</a:t>
            </a:r>
          </a:p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SVC</a:t>
            </a:r>
          </a:p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K Nearest </a:t>
            </a:r>
            <a:r>
              <a:rPr lang="en-US" sz="2224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Neighbours</a:t>
            </a:r>
            <a:endParaRPr lang="en-US" sz="2224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Decision Tree</a:t>
            </a:r>
          </a:p>
          <a:p>
            <a:pPr marL="480271" lvl="1" indent="-240136" algn="l">
              <a:lnSpc>
                <a:spcPts val="2669"/>
              </a:lnSpc>
              <a:buFont typeface="Arial"/>
              <a:buChar char="•"/>
            </a:pPr>
            <a:r>
              <a:rPr lang="en-US" sz="2224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XG Boost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9021" y="7847948"/>
            <a:ext cx="15962392" cy="837481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1317128" y="8042851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Hyperparametric tunings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9099" y="446080"/>
            <a:ext cx="10295237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Methodology</a:t>
            </a:r>
          </a:p>
        </p:txBody>
      </p:sp>
      <p:sp>
        <p:nvSpPr>
          <p:cNvPr id="5" name="AutoShape 5"/>
          <p:cNvSpPr/>
          <p:nvPr/>
        </p:nvSpPr>
        <p:spPr>
          <a:xfrm>
            <a:off x="1079099" y="1694295"/>
            <a:ext cx="15962392" cy="1061113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317128" y="1999616"/>
            <a:ext cx="121372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Tools</a:t>
            </a:r>
          </a:p>
        </p:txBody>
      </p:sp>
      <p:sp>
        <p:nvSpPr>
          <p:cNvPr id="7" name="AutoShape 7"/>
          <p:cNvSpPr/>
          <p:nvPr/>
        </p:nvSpPr>
        <p:spPr>
          <a:xfrm>
            <a:off x="1008480" y="2523491"/>
            <a:ext cx="15962392" cy="5682372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317128" y="3009900"/>
            <a:ext cx="5819624" cy="4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1790" lvl="1" indent="-310895" algn="l">
              <a:lnSpc>
                <a:spcPts val="3455"/>
              </a:lnSpc>
              <a:buFont typeface="Arial"/>
              <a:buChar char="•"/>
            </a:pPr>
            <a:r>
              <a:rPr lang="en-US" sz="2879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Python (</a:t>
            </a:r>
            <a:r>
              <a:rPr lang="en-US" sz="2879" dirty="0" err="1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Jupyter</a:t>
            </a:r>
            <a:r>
              <a:rPr lang="en-US" sz="2879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 Notebook)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5417" y="422910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Matplotlib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5417" y="461010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Pandas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5417" y="506730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Seaborn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45417" y="5495925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Scikit Learn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5417" y="590550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XG Boost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5417" y="636270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Imbalanced-learn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45417" y="6819900"/>
            <a:ext cx="1459716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433" lvl="1" indent="-267716" algn="l">
              <a:lnSpc>
                <a:spcPts val="2976"/>
              </a:lnSpc>
              <a:buFont typeface="Arial"/>
              <a:buChar char="•"/>
            </a:pPr>
            <a:r>
              <a:rPr lang="en-US" sz="2480" dirty="0" err="1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Dateutil</a:t>
            </a:r>
            <a:endParaRPr lang="en-US" sz="2480" dirty="0">
              <a:solidFill>
                <a:srgbClr val="141E14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CC778C6-3F6E-DEE5-2821-004D39AA0876}"/>
              </a:ext>
            </a:extLst>
          </p:cNvPr>
          <p:cNvSpPr txBox="1"/>
          <p:nvPr/>
        </p:nvSpPr>
        <p:spPr>
          <a:xfrm>
            <a:off x="1325273" y="3619500"/>
            <a:ext cx="5819624" cy="4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1790" lvl="1" indent="-310895" algn="l">
              <a:lnSpc>
                <a:spcPts val="3455"/>
              </a:lnSpc>
              <a:buFont typeface="Arial"/>
              <a:buChar char="•"/>
            </a:pPr>
            <a:r>
              <a:rPr lang="en-US" sz="2879" dirty="0">
                <a:solidFill>
                  <a:srgbClr val="141E14"/>
                </a:solidFill>
                <a:latin typeface="Codec Pro"/>
                <a:ea typeface="Codec Pro"/>
                <a:cs typeface="Codec Pro"/>
                <a:sym typeface="Codec Pro"/>
              </a:rPr>
              <a:t>Libraries;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93769"/>
            <a:ext cx="16165190" cy="1042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Hotel Haven Key Performance Metrics</a:t>
            </a:r>
          </a:p>
        </p:txBody>
      </p:sp>
      <p:sp>
        <p:nvSpPr>
          <p:cNvPr id="3" name="AutoShape 3"/>
          <p:cNvSpPr/>
          <p:nvPr/>
        </p:nvSpPr>
        <p:spPr>
          <a:xfrm>
            <a:off x="191551" y="5210175"/>
            <a:ext cx="3348882" cy="3891414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AutoShape 4"/>
          <p:cNvSpPr/>
          <p:nvPr/>
        </p:nvSpPr>
        <p:spPr>
          <a:xfrm>
            <a:off x="191551" y="3070244"/>
            <a:ext cx="3348882" cy="1886910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48339" y="5966805"/>
            <a:ext cx="3235307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1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Total Hotel Bookings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0698" y="3342935"/>
            <a:ext cx="2630589" cy="121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36,285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25971" y="2983996"/>
            <a:ext cx="2698525" cy="193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59"/>
              </a:lnSpc>
              <a:spcBef>
                <a:spcPct val="0"/>
              </a:spcBef>
            </a:pPr>
            <a:r>
              <a:rPr lang="en-US" sz="10399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87%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11179" y="3070244"/>
            <a:ext cx="3348882" cy="1886910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7426760" y="3070244"/>
            <a:ext cx="3348882" cy="1886910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1042342" y="3088765"/>
            <a:ext cx="3348882" cy="1886910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14" name="AutoShape 14"/>
          <p:cNvSpPr/>
          <p:nvPr/>
        </p:nvSpPr>
        <p:spPr>
          <a:xfrm>
            <a:off x="3811179" y="5210175"/>
            <a:ext cx="3348882" cy="3891414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AutoShape 15"/>
          <p:cNvSpPr/>
          <p:nvPr/>
        </p:nvSpPr>
        <p:spPr>
          <a:xfrm>
            <a:off x="7430806" y="5210175"/>
            <a:ext cx="3348882" cy="3891414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11050433" y="5210175"/>
            <a:ext cx="3348882" cy="3891414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>
            <a:off x="14670061" y="5210175"/>
            <a:ext cx="3348882" cy="3891414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3811179" y="5966805"/>
            <a:ext cx="3235307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Total Revenue</a:t>
            </a:r>
          </a:p>
          <a:p>
            <a:pPr marL="0" lvl="0" indent="0" algn="ctr">
              <a:lnSpc>
                <a:spcPts val="431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Generated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26347" y="5966805"/>
            <a:ext cx="3235307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1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Total Cancellation Rate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64008" y="5966805"/>
            <a:ext cx="3235307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Total Revenue</a:t>
            </a:r>
          </a:p>
          <a:p>
            <a:pPr marL="0" lvl="0" indent="0" algn="ctr">
              <a:lnSpc>
                <a:spcPts val="431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45946" y="5966805"/>
            <a:ext cx="3235307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1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Average Lead Time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15897" y="3342935"/>
            <a:ext cx="2139445" cy="121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$7M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33640" y="3342935"/>
            <a:ext cx="2335123" cy="121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32.8%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94954" y="3342935"/>
            <a:ext cx="2474893" cy="121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$4.2M</a:t>
            </a: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E8C5E65A-CE0F-C38E-2A7D-BAB8AB2B2C92}"/>
              </a:ext>
            </a:extLst>
          </p:cNvPr>
          <p:cNvSpPr/>
          <p:nvPr/>
        </p:nvSpPr>
        <p:spPr>
          <a:xfrm>
            <a:off x="14745945" y="3088765"/>
            <a:ext cx="3272997" cy="1886910"/>
          </a:xfrm>
          <a:prstGeom prst="rect">
            <a:avLst/>
          </a:prstGeom>
          <a:solidFill>
            <a:srgbClr val="D6EAD6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TextBox 25"/>
          <p:cNvSpPr txBox="1"/>
          <p:nvPr/>
        </p:nvSpPr>
        <p:spPr>
          <a:xfrm>
            <a:off x="14782800" y="3342934"/>
            <a:ext cx="3235307" cy="1091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450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85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360" y="3135973"/>
            <a:ext cx="4368236" cy="4368236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6403" y="3135973"/>
            <a:ext cx="4368236" cy="4368236"/>
          </a:xfrm>
          <a:prstGeom prst="rect">
            <a:avLst/>
          </a:prstGeom>
        </p:spPr>
      </p:pic>
      <p:sp>
        <p:nvSpPr>
          <p:cNvPr id="5" name="Auto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2793827"/>
          </a:xfrm>
          <a:prstGeom prst="rect">
            <a:avLst/>
          </a:prstGeom>
          <a:solidFill>
            <a:srgbClr val="7C987C"/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28700" y="506834"/>
            <a:ext cx="16230600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Insights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656037" y="4880156"/>
            <a:ext cx="879235" cy="879872"/>
            <a:chOff x="0" y="0"/>
            <a:chExt cx="231568" cy="2317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568" cy="231736"/>
            </a:xfrm>
            <a:custGeom>
              <a:avLst/>
              <a:gdLst/>
              <a:ahLst/>
              <a:cxnLst/>
              <a:rect l="l" t="t" r="r" b="b"/>
              <a:pathLst>
                <a:path w="231568" h="231736">
                  <a:moveTo>
                    <a:pt x="0" y="0"/>
                  </a:moveTo>
                  <a:lnTo>
                    <a:pt x="231568" y="0"/>
                  </a:lnTo>
                  <a:lnTo>
                    <a:pt x="231568" y="231736"/>
                  </a:lnTo>
                  <a:lnTo>
                    <a:pt x="0" y="231736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1568" cy="28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365236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VS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858565" y="5320092"/>
            <a:ext cx="1797472" cy="0"/>
          </a:xfrm>
          <a:prstGeom prst="line">
            <a:avLst/>
          </a:prstGeom>
          <a:ln w="38100" cap="flat">
            <a:solidFill>
              <a:srgbClr val="365236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9535273" y="5320092"/>
            <a:ext cx="1894334" cy="0"/>
          </a:xfrm>
          <a:prstGeom prst="line">
            <a:avLst/>
          </a:prstGeom>
          <a:ln w="38100" cap="flat">
            <a:solidFill>
              <a:srgbClr val="365236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4626AB-9B62-E28E-A22E-A246EC8B2D17}"/>
              </a:ext>
            </a:extLst>
          </p:cNvPr>
          <p:cNvSpPr txBox="1"/>
          <p:nvPr/>
        </p:nvSpPr>
        <p:spPr>
          <a:xfrm>
            <a:off x="4569312" y="9191020"/>
            <a:ext cx="8980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>
                <a:latin typeface="Codec Pro" panose="020B0604020202020204" charset="0"/>
              </a:rPr>
              <a:t>Figure 1:  Booking Status Overview at Hotel Haven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0E48850E-C171-DC52-191A-643885E48076}"/>
              </a:ext>
            </a:extLst>
          </p:cNvPr>
          <p:cNvSpPr txBox="1"/>
          <p:nvPr/>
        </p:nvSpPr>
        <p:spPr>
          <a:xfrm>
            <a:off x="3296120" y="7338430"/>
            <a:ext cx="284050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Honored Bookings</a:t>
            </a:r>
          </a:p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(24,396)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D9616950-67EE-27E3-C2AF-30C9743749E1}"/>
              </a:ext>
            </a:extLst>
          </p:cNvPr>
          <p:cNvSpPr txBox="1"/>
          <p:nvPr/>
        </p:nvSpPr>
        <p:spPr>
          <a:xfrm>
            <a:off x="12240269" y="7350764"/>
            <a:ext cx="2840504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Cancelled Bookings</a:t>
            </a:r>
          </a:p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(11,889)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96676" y="0"/>
            <a:ext cx="5491324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/>
          <p:cNvSpPr txBox="1"/>
          <p:nvPr/>
        </p:nvSpPr>
        <p:spPr>
          <a:xfrm>
            <a:off x="13720417" y="7526655"/>
            <a:ext cx="3538883" cy="66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GB" spc="-3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Hotel Haven attracts very few premium bookings ($301-$540) </a:t>
            </a:r>
            <a:endParaRPr lang="en-US" sz="1800" spc="-36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057773" y="156412"/>
            <a:ext cx="5341878" cy="5658447"/>
            <a:chOff x="0" y="-142875"/>
            <a:chExt cx="7122504" cy="7544595"/>
          </a:xfrm>
        </p:grpSpPr>
        <p:sp>
          <p:nvSpPr>
            <p:cNvPr id="5" name="TextBox 5"/>
            <p:cNvSpPr txBox="1"/>
            <p:nvPr/>
          </p:nvSpPr>
          <p:spPr>
            <a:xfrm>
              <a:off x="0" y="-142875"/>
              <a:ext cx="7122504" cy="382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1" dirty="0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Key Insights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3525" y="3614786"/>
              <a:ext cx="4718511" cy="378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150"/>
                </a:lnSpc>
              </a:pPr>
              <a:r>
                <a:rPr lang="en-GB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 The $101-$200 price range is Hotel Haven's biggest cancellation problem, with nearly 7,000 cancellations, representing the greatest source of lost revenue for the hotel</a:t>
              </a:r>
              <a:endParaRPr lang="en-US" sz="2100" spc="-2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33EF955-8ED0-E17F-175B-A17D65E5F075}"/>
              </a:ext>
            </a:extLst>
          </p:cNvPr>
          <p:cNvSpPr txBox="1"/>
          <p:nvPr/>
        </p:nvSpPr>
        <p:spPr>
          <a:xfrm>
            <a:off x="1432910" y="9145859"/>
            <a:ext cx="9968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Codec Pro" panose="020B0604020202020204" charset="0"/>
              </a:rPr>
              <a:t>Figure 2: Distribution of Booking Status by Average Price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899BAC-6036-AF9A-7048-58AC50BDA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33500"/>
            <a:ext cx="12529647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853E-2198-E751-2BC8-177D6B1A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268643-6024-D593-5917-B01DC3131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96676" y="0"/>
            <a:ext cx="5491324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BEA6D17-FA30-FA53-9A8F-766363B72988}"/>
              </a:ext>
            </a:extLst>
          </p:cNvPr>
          <p:cNvSpPr txBox="1"/>
          <p:nvPr/>
        </p:nvSpPr>
        <p:spPr>
          <a:xfrm>
            <a:off x="13720417" y="7526655"/>
            <a:ext cx="3538883" cy="101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pc="-3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Guests who book &lt;=30 days before arrival are far more likely to follow through</a:t>
            </a:r>
            <a:endParaRPr lang="en-US" sz="1800" spc="-36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B68B91A-22C4-F856-3C1B-4D21DA1D803A}"/>
              </a:ext>
            </a:extLst>
          </p:cNvPr>
          <p:cNvGrpSpPr/>
          <p:nvPr/>
        </p:nvGrpSpPr>
        <p:grpSpPr>
          <a:xfrm>
            <a:off x="13057773" y="156412"/>
            <a:ext cx="5341878" cy="4016971"/>
            <a:chOff x="0" y="-142875"/>
            <a:chExt cx="7122504" cy="535596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50EFF42-F2EF-0FD3-0C43-79FA5E9A0B41}"/>
                </a:ext>
              </a:extLst>
            </p:cNvPr>
            <p:cNvSpPr txBox="1"/>
            <p:nvPr/>
          </p:nvSpPr>
          <p:spPr>
            <a:xfrm>
              <a:off x="0" y="-142875"/>
              <a:ext cx="7122504" cy="382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Key Insights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5493A91-37FF-F2CB-89CC-FEDA34E59D74}"/>
                </a:ext>
              </a:extLst>
            </p:cNvPr>
            <p:cNvSpPr txBox="1"/>
            <p:nvPr/>
          </p:nvSpPr>
          <p:spPr>
            <a:xfrm>
              <a:off x="883525" y="3614784"/>
              <a:ext cx="4718511" cy="1598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50"/>
                </a:lnSpc>
              </a:pPr>
              <a:r>
                <a:rPr lang="en-US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Lead time is the dominant cancellation driver, regardless of the price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95C0ADF-9D20-8656-D4F8-F30D00892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4" y="1483228"/>
            <a:ext cx="12677476" cy="70130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607F00-1E4E-71B4-9C5F-E273CB298592}"/>
              </a:ext>
            </a:extLst>
          </p:cNvPr>
          <p:cNvSpPr txBox="1"/>
          <p:nvPr/>
        </p:nvSpPr>
        <p:spPr>
          <a:xfrm>
            <a:off x="346469" y="8817711"/>
            <a:ext cx="12457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Codec Pro" panose="020B0604020202020204" charset="0"/>
              </a:rPr>
              <a:t>Figure 3: Cancellation Rate (%) by Average Price Range and Lead Time</a:t>
            </a:r>
          </a:p>
        </p:txBody>
      </p:sp>
    </p:spTree>
    <p:extLst>
      <p:ext uri="{BB962C8B-B14F-4D97-AF65-F5344CB8AC3E}">
        <p14:creationId xmlns:p14="http://schemas.microsoft.com/office/powerpoint/2010/main" val="208593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96676" y="0"/>
            <a:ext cx="5491324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/>
          <p:cNvSpPr txBox="1"/>
          <p:nvPr/>
        </p:nvSpPr>
        <p:spPr>
          <a:xfrm>
            <a:off x="13720417" y="7526655"/>
            <a:ext cx="3538883" cy="101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pc="-36" dirty="0">
                <a:solidFill>
                  <a:srgbClr val="FFFFFF"/>
                </a:solidFill>
                <a:latin typeface="Codec Pro"/>
                <a:sym typeface="Codec Pro"/>
              </a:rPr>
              <a:t>Slight variations suggests that room type alone is not a </a:t>
            </a:r>
            <a:r>
              <a:rPr lang="en-US" spc="-36" dirty="0" err="1">
                <a:solidFill>
                  <a:srgbClr val="FFFFFF"/>
                </a:solidFill>
                <a:latin typeface="Codec Pro"/>
                <a:sym typeface="Codec Pro"/>
              </a:rPr>
              <a:t>a</a:t>
            </a:r>
            <a:r>
              <a:rPr lang="en-US" spc="-36" dirty="0">
                <a:solidFill>
                  <a:srgbClr val="FFFFFF"/>
                </a:solidFill>
                <a:latin typeface="Codec Pro"/>
                <a:sym typeface="Codec Pro"/>
              </a:rPr>
              <a:t> strong  predictor of cancellations</a:t>
            </a:r>
            <a:endParaRPr lang="en-US" sz="1800" spc="-36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057773" y="156412"/>
            <a:ext cx="5341878" cy="4016972"/>
            <a:chOff x="0" y="-142875"/>
            <a:chExt cx="7122504" cy="5355961"/>
          </a:xfrm>
        </p:grpSpPr>
        <p:sp>
          <p:nvSpPr>
            <p:cNvPr id="5" name="TextBox 5"/>
            <p:cNvSpPr txBox="1"/>
            <p:nvPr/>
          </p:nvSpPr>
          <p:spPr>
            <a:xfrm>
              <a:off x="0" y="-142875"/>
              <a:ext cx="7122504" cy="382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Key Insights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3525" y="3614785"/>
              <a:ext cx="4718511" cy="1598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50"/>
                </a:lnSpc>
              </a:pPr>
              <a:r>
                <a:rPr lang="en-US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No clear/consistent pattern of cancellation rate across room types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4DAD0A8-7636-CF34-F2EF-3AC84B5C5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3100"/>
            <a:ext cx="12735654" cy="5900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DFFD35-90C5-26F8-0BDF-C6A4263F4FBE}"/>
              </a:ext>
            </a:extLst>
          </p:cNvPr>
          <p:cNvSpPr txBox="1"/>
          <p:nvPr/>
        </p:nvSpPr>
        <p:spPr>
          <a:xfrm>
            <a:off x="109883" y="8343900"/>
            <a:ext cx="12691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Codec Pro" panose="020B0604020202020204" charset="0"/>
              </a:rPr>
              <a:t>Figure 4: Percentage Distribution of Booking Status by Room Type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DB1E-F697-E124-22A4-9298BDA7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4CAFA7C-9B15-F102-0FD3-F7AF562EB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96676" y="0"/>
            <a:ext cx="5491324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07DB466-79DA-ADAD-81B9-8E62DD3C32B7}"/>
              </a:ext>
            </a:extLst>
          </p:cNvPr>
          <p:cNvSpPr txBox="1"/>
          <p:nvPr/>
        </p:nvSpPr>
        <p:spPr>
          <a:xfrm>
            <a:off x="13720417" y="7526655"/>
            <a:ext cx="3538883" cy="101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pc="-3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With only 11% cancellation rate, corporate guests demonstrate strong booking commitment.</a:t>
            </a:r>
            <a:endParaRPr lang="en-US" sz="1800" spc="-36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58FC25B-E880-3F99-3163-A625A4B3F91A}"/>
              </a:ext>
            </a:extLst>
          </p:cNvPr>
          <p:cNvGrpSpPr/>
          <p:nvPr/>
        </p:nvGrpSpPr>
        <p:grpSpPr>
          <a:xfrm>
            <a:off x="13057773" y="156412"/>
            <a:ext cx="5341878" cy="5668513"/>
            <a:chOff x="0" y="-142875"/>
            <a:chExt cx="7122504" cy="755801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13F7CEF-16E9-1D37-6081-54BEFA28541C}"/>
                </a:ext>
              </a:extLst>
            </p:cNvPr>
            <p:cNvSpPr txBox="1"/>
            <p:nvPr/>
          </p:nvSpPr>
          <p:spPr>
            <a:xfrm>
              <a:off x="0" y="-142875"/>
              <a:ext cx="7122504" cy="382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Key Insights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3B8C323-7AFC-2CE4-445C-E28F80ABC5B8}"/>
                </a:ext>
              </a:extLst>
            </p:cNvPr>
            <p:cNvSpPr txBox="1"/>
            <p:nvPr/>
          </p:nvSpPr>
          <p:spPr>
            <a:xfrm>
              <a:off x="883525" y="3614785"/>
              <a:ext cx="4718511" cy="38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150"/>
                </a:lnSpc>
              </a:pPr>
              <a:r>
                <a:rPr lang="en-US" sz="2100" spc="-21" dirty="0">
                  <a:solidFill>
                    <a:srgbClr val="FFFFFF"/>
                  </a:solidFill>
                  <a:latin typeface="Codec Pro"/>
                  <a:sym typeface="Codec Pro"/>
                </a:rPr>
                <a:t>The </a:t>
              </a:r>
              <a:r>
                <a:rPr lang="en-US" sz="2100" spc="-21" dirty="0">
                  <a:solidFill>
                    <a:srgbClr val="FFFFFF"/>
                  </a:solidFill>
                  <a:latin typeface="Codec Pro" panose="020B0604020202020204" charset="0"/>
                  <a:sym typeface="Codec Pro"/>
                </a:rPr>
                <a:t>seamless</a:t>
              </a:r>
              <a:r>
                <a:rPr lang="en-GB" sz="2400" spc="-21" dirty="0">
                  <a:solidFill>
                    <a:srgbClr val="FFFFFF"/>
                  </a:solidFill>
                  <a:latin typeface="Codec Pro" panose="020B0604020202020204" charset="0"/>
                  <a:sym typeface="Codec Pro"/>
                </a:rPr>
                <a:t> booking and cancellation of the online booking channel directly contributes to revenue and inefficient resource allocation at a cancellation rate of 37%.</a:t>
              </a:r>
              <a:endParaRPr lang="en-US" sz="2100" spc="-21" dirty="0">
                <a:solidFill>
                  <a:srgbClr val="FFFFFF"/>
                </a:solidFill>
                <a:latin typeface="Codec Pro" panose="020B0604020202020204" charset="0"/>
                <a:ea typeface="Codec Pro"/>
                <a:cs typeface="Codec Pro"/>
                <a:sym typeface="Codec Pro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8B4C31D-C032-EC51-16DC-417893C0E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" y="2625084"/>
            <a:ext cx="12801585" cy="5109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0D6C11-8843-6CB3-0FF4-B0E01F966E2E}"/>
              </a:ext>
            </a:extLst>
          </p:cNvPr>
          <p:cNvSpPr txBox="1"/>
          <p:nvPr/>
        </p:nvSpPr>
        <p:spPr>
          <a:xfrm>
            <a:off x="1939620" y="8646124"/>
            <a:ext cx="9414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Codec Pro" panose="020B0604020202020204" charset="0"/>
              </a:rPr>
              <a:t>Figure 5: Percentage Distribution by Market Segment</a:t>
            </a:r>
          </a:p>
        </p:txBody>
      </p:sp>
    </p:spTree>
    <p:extLst>
      <p:ext uri="{BB962C8B-B14F-4D97-AF65-F5344CB8AC3E}">
        <p14:creationId xmlns:p14="http://schemas.microsoft.com/office/powerpoint/2010/main" val="2761997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B504-6777-A2B5-64D0-AFF2395B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318B5D7-39D3-2697-9130-64CA562ED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96676" y="0"/>
            <a:ext cx="5491324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018960A-BC5B-5503-97AC-69DE51781640}"/>
              </a:ext>
            </a:extLst>
          </p:cNvPr>
          <p:cNvSpPr txBox="1"/>
          <p:nvPr/>
        </p:nvSpPr>
        <p:spPr>
          <a:xfrm>
            <a:off x="13720417" y="7526655"/>
            <a:ext cx="3538883" cy="13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GB" spc="-36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Guests with zero special requests cancel at 43%, making them Hotel Haven's highest cancellation risk segment</a:t>
            </a:r>
            <a:endParaRPr lang="en-US" sz="1800" spc="-36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013511F-A1AB-2ABE-1F15-BCD091E9AC03}"/>
              </a:ext>
            </a:extLst>
          </p:cNvPr>
          <p:cNvGrpSpPr/>
          <p:nvPr/>
        </p:nvGrpSpPr>
        <p:grpSpPr>
          <a:xfrm>
            <a:off x="13057773" y="156412"/>
            <a:ext cx="5341878" cy="5248078"/>
            <a:chOff x="0" y="-142875"/>
            <a:chExt cx="7122504" cy="699743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CD7627A-1234-9BAC-0E75-93A2FCC84917}"/>
                </a:ext>
              </a:extLst>
            </p:cNvPr>
            <p:cNvSpPr txBox="1"/>
            <p:nvPr/>
          </p:nvSpPr>
          <p:spPr>
            <a:xfrm>
              <a:off x="0" y="-142875"/>
              <a:ext cx="7122504" cy="382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Key Insights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135BA07-FB0A-2E43-013A-C4952B461E0A}"/>
                </a:ext>
              </a:extLst>
            </p:cNvPr>
            <p:cNvSpPr txBox="1"/>
            <p:nvPr/>
          </p:nvSpPr>
          <p:spPr>
            <a:xfrm>
              <a:off x="883525" y="3614786"/>
              <a:ext cx="5378911" cy="32397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150"/>
                </a:lnSpc>
              </a:pPr>
              <a:r>
                <a:rPr lang="en-GB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 Special request is a reliable signal of booking commitment. Each additional special request made at booking significantly reduces the likelihood of cancellation</a:t>
              </a:r>
              <a:r>
                <a:rPr lang="en-US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351F8DD-D19B-FD04-F62F-A5B9EE81B5DE}"/>
              </a:ext>
            </a:extLst>
          </p:cNvPr>
          <p:cNvSpPr txBox="1"/>
          <p:nvPr/>
        </p:nvSpPr>
        <p:spPr>
          <a:xfrm>
            <a:off x="1280564" y="8470032"/>
            <a:ext cx="10466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Codec Pro" panose="020B0604020202020204" charset="0"/>
              </a:rPr>
              <a:t>Figure 6: Cancellation Rate by Number of Special Requests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0B874A-FA9D-D069-5A87-9578E2DDD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5" y="1296790"/>
            <a:ext cx="12601100" cy="662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97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F5D45-3290-707F-DE6B-C494C2C4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C5B9BDA-89A0-3061-A864-2E3781519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96676" y="0"/>
            <a:ext cx="5491324" cy="1028700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5F338E2-0EB3-7BDA-22F8-7EA04C3257E1}"/>
              </a:ext>
            </a:extLst>
          </p:cNvPr>
          <p:cNvGrpSpPr/>
          <p:nvPr/>
        </p:nvGrpSpPr>
        <p:grpSpPr>
          <a:xfrm>
            <a:off x="13057773" y="156412"/>
            <a:ext cx="5341878" cy="6889552"/>
            <a:chOff x="0" y="-142875"/>
            <a:chExt cx="7122504" cy="918606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21D27C8-94E1-D969-4555-E221EFD38E4E}"/>
                </a:ext>
              </a:extLst>
            </p:cNvPr>
            <p:cNvSpPr txBox="1"/>
            <p:nvPr/>
          </p:nvSpPr>
          <p:spPr>
            <a:xfrm>
              <a:off x="0" y="-142875"/>
              <a:ext cx="7122504" cy="3825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Key Insights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5A5DAC5-D146-84F0-2D0A-03ABBFD4FEF6}"/>
                </a:ext>
              </a:extLst>
            </p:cNvPr>
            <p:cNvSpPr txBox="1"/>
            <p:nvPr/>
          </p:nvSpPr>
          <p:spPr>
            <a:xfrm>
              <a:off x="471237" y="3614784"/>
              <a:ext cx="5486400" cy="5428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>
                <a:lnSpc>
                  <a:spcPts val="3150"/>
                </a:lnSpc>
                <a:buFont typeface="Arial" panose="020B0604020202020204" pitchFamily="34" charset="0"/>
                <a:buChar char="•"/>
              </a:pPr>
              <a:r>
                <a:rPr lang="en-GB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Lead time (negative predictor), special requests and  (positive predictor) are the  factors which mostly influence booking status at Hotel Haven reinforcing our earlier finding.</a:t>
              </a:r>
            </a:p>
            <a:p>
              <a:pPr marL="342900" lvl="0" indent="-342900">
                <a:lnSpc>
                  <a:spcPts val="3150"/>
                </a:lnSpc>
                <a:buFont typeface="Arial" panose="020B0604020202020204" pitchFamily="34" charset="0"/>
                <a:buChar char="•"/>
              </a:pPr>
              <a:endParaRPr lang="en-GB" sz="2100" spc="-2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endParaRPr>
            </a:p>
            <a:p>
              <a:pPr marL="342900" lvl="0" indent="-342900">
                <a:lnSpc>
                  <a:spcPts val="3150"/>
                </a:lnSpc>
                <a:buFont typeface="Arial" panose="020B0604020202020204" pitchFamily="34" charset="0"/>
                <a:buChar char="•"/>
              </a:pPr>
              <a:r>
                <a:rPr lang="en-GB" sz="2100" spc="-21" dirty="0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Price is a weak predictive factor</a:t>
              </a:r>
              <a:endParaRPr lang="en-US" sz="2100" spc="-2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2F5A348-1D89-2C10-9067-287B4CA463EE}"/>
              </a:ext>
            </a:extLst>
          </p:cNvPr>
          <p:cNvSpPr txBox="1"/>
          <p:nvPr/>
        </p:nvSpPr>
        <p:spPr>
          <a:xfrm>
            <a:off x="1991837" y="8884249"/>
            <a:ext cx="8604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Codec Pro" panose="020B0604020202020204" charset="0"/>
              </a:rPr>
              <a:t>Figure 6: Correlation Matrix of Booking Variables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BF1470-5CCE-A7A5-E955-F6ACBC6A4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52251"/>
            <a:ext cx="11305173" cy="831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BD2F0-4CC5-A9FE-D299-EAC2991F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DB8E1E4-7FAE-CF0D-69D0-729100327A75}"/>
              </a:ext>
            </a:extLst>
          </p:cNvPr>
          <p:cNvGrpSpPr/>
          <p:nvPr/>
        </p:nvGrpSpPr>
        <p:grpSpPr>
          <a:xfrm>
            <a:off x="0" y="1"/>
            <a:ext cx="18288000" cy="2095500"/>
            <a:chOff x="0" y="0"/>
            <a:chExt cx="4816593" cy="8442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FAACFD-5F2B-C60C-4880-145C4F0DD49E}"/>
                </a:ext>
              </a:extLst>
            </p:cNvPr>
            <p:cNvSpPr/>
            <p:nvPr/>
          </p:nvSpPr>
          <p:spPr>
            <a:xfrm>
              <a:off x="0" y="0"/>
              <a:ext cx="4816592" cy="844244"/>
            </a:xfrm>
            <a:custGeom>
              <a:avLst/>
              <a:gdLst/>
              <a:ahLst/>
              <a:cxnLst/>
              <a:rect l="l" t="t" r="r" b="b"/>
              <a:pathLst>
                <a:path w="4816592" h="844244">
                  <a:moveTo>
                    <a:pt x="0" y="0"/>
                  </a:moveTo>
                  <a:lnTo>
                    <a:pt x="4816592" y="0"/>
                  </a:lnTo>
                  <a:lnTo>
                    <a:pt x="4816592" y="844244"/>
                  </a:lnTo>
                  <a:lnTo>
                    <a:pt x="0" y="8442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5219229-D986-367C-A7FF-E5D4AC833F56}"/>
                </a:ext>
              </a:extLst>
            </p:cNvPr>
            <p:cNvSpPr txBox="1"/>
            <p:nvPr/>
          </p:nvSpPr>
          <p:spPr>
            <a:xfrm>
              <a:off x="0" y="-76200"/>
              <a:ext cx="4816593" cy="920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E01EBF9-110F-4B6C-5882-C5A5010BCA26}"/>
              </a:ext>
            </a:extLst>
          </p:cNvPr>
          <p:cNvSpPr txBox="1"/>
          <p:nvPr/>
        </p:nvSpPr>
        <p:spPr>
          <a:xfrm>
            <a:off x="1035754" y="363171"/>
            <a:ext cx="16566446" cy="1333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800" b="1" dirty="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Performance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2A736B-BE64-C46E-E76F-AFB49EAA6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297" y="2095501"/>
            <a:ext cx="10380303" cy="74675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E91257-7890-D3C3-1DF7-F7480E1192F7}"/>
              </a:ext>
            </a:extLst>
          </p:cNvPr>
          <p:cNvSpPr txBox="1"/>
          <p:nvPr/>
        </p:nvSpPr>
        <p:spPr>
          <a:xfrm>
            <a:off x="4447947" y="9593546"/>
            <a:ext cx="9375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Codec Pro" panose="020B0604020202020204" charset="0"/>
              </a:rPr>
              <a:t>Figure 7: Confusion Matrix: For Random Forest Model</a:t>
            </a:r>
          </a:p>
        </p:txBody>
      </p:sp>
    </p:spTree>
    <p:extLst>
      <p:ext uri="{BB962C8B-B14F-4D97-AF65-F5344CB8AC3E}">
        <p14:creationId xmlns:p14="http://schemas.microsoft.com/office/powerpoint/2010/main" val="3215831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4111" y="2549403"/>
            <a:ext cx="16165190" cy="670889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latin typeface="Codec Pro" panose="020B060402020202020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885825"/>
            <a:ext cx="1695450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Performance Evaluation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400" y="2781300"/>
            <a:ext cx="8610600" cy="1477209"/>
          </a:xfrm>
          <a:prstGeom prst="rect">
            <a:avLst/>
          </a:prstGeom>
        </p:spPr>
        <p:txBody>
          <a:bodyPr lIns="254000" tIns="254000" rIns="254000" bIns="254000" rtlCol="0" anchor="ctr"/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2400" u="none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Write a note here</a:t>
            </a: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949332"/>
              </p:ext>
            </p:extLst>
          </p:nvPr>
        </p:nvGraphicFramePr>
        <p:xfrm>
          <a:off x="1028699" y="2549403"/>
          <a:ext cx="16230602" cy="6851770"/>
        </p:xfrm>
        <a:graphic>
          <a:graphicData uri="http://schemas.openxmlformats.org/drawingml/2006/table">
            <a:tbl>
              <a:tblPr/>
              <a:tblGrid>
                <a:gridCol w="16230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9940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endParaRPr lang="en-US" sz="1100" dirty="0"/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5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366"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Accuracy: 90% (correctly classified prediction)</a:t>
                      </a:r>
                      <a:endParaRPr lang="en-US" sz="11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83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779"/>
                        </a:lnSpc>
                        <a:defRPr/>
                      </a:pPr>
                      <a:r>
                        <a:rPr lang="en-US" sz="2699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F1 Score: 90% (balanced precision and recall)</a:t>
                      </a:r>
                      <a:endParaRPr lang="en-US" sz="2699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odec Pro"/>
                      </a:endParaRPr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83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779"/>
                        </a:lnSpc>
                        <a:defRPr/>
                      </a:pPr>
                      <a:r>
                        <a:rPr lang="en-US" sz="2699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Recall: 89-90% (correctly flags cancellation)</a:t>
                      </a:r>
                      <a:endParaRPr lang="en-US" sz="2699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odec Pro"/>
                      </a:endParaRPr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83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779"/>
                        </a:lnSpc>
                        <a:defRPr/>
                      </a:pPr>
                      <a:r>
                        <a:rPr lang="en-US" sz="2699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Precision: 89-90% (low false alarm rate)</a:t>
                      </a:r>
                      <a:endParaRPr lang="en-US" sz="2699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odec Pro"/>
                      </a:endParaRPr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65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836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3779"/>
                        </a:lnSpc>
                        <a:defRPr/>
                      </a:pPr>
                      <a:r>
                        <a:rPr lang="en-US" sz="2699" kern="1200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odec Pro"/>
                          <a:ea typeface="Codec Pro"/>
                          <a:cs typeface="Codec Pro"/>
                          <a:sym typeface="Codec Pro"/>
                        </a:rPr>
                        <a:t>ROC-AUC: 96% (strong class readability)</a:t>
                      </a:r>
                      <a:endParaRPr lang="en-US" sz="2699" kern="12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Codec Pro"/>
                      </a:endParaRPr>
                    </a:p>
                  </a:txBody>
                  <a:tcPr marL="143950" marR="143950" marT="143950" marB="14395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90AEA-24F7-8F20-77F9-3C7BB0C1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8C93D28-F925-370C-CEE4-B9B2B0B95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4111" y="2549403"/>
            <a:ext cx="16165190" cy="670889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lnSpc>
                <a:spcPts val="3779"/>
              </a:lnSpc>
              <a:defRPr/>
            </a:pPr>
            <a:r>
              <a:rPr lang="en-GB" sz="2699" b="1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Price and Booking Commitments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Use deposits, prepaid rates, or credit card to increase booking commitment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Offer flexible options such as rescheduling or partial refunds instead of full cancellation for lower priced rooms, giving budget guests a financial incentive to commit at the point of booking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  <a:p>
            <a:pPr>
              <a:lnSpc>
                <a:spcPts val="3779"/>
              </a:lnSpc>
              <a:defRPr/>
            </a:pPr>
            <a:r>
              <a:rPr lang="en-GB" sz="2699" b="1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Market Segments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Room upgrades or loyalty reward to guests who book directly (offline market segment)</a:t>
            </a:r>
          </a:p>
          <a:p>
            <a:pPr>
              <a:lnSpc>
                <a:spcPts val="3779"/>
              </a:lnSpc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  <a:p>
            <a:pPr>
              <a:lnSpc>
                <a:spcPts val="3779"/>
              </a:lnSpc>
              <a:defRPr/>
            </a:pPr>
            <a:r>
              <a:rPr lang="en-GB" sz="2699" b="1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Lead Time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Identify long lead-time bookings at an early stage and proactively engage these guests with personalized campaigns, promotional upgrades and experience packages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Offer small incentives for guests who keep long-lead bookings</a:t>
            </a:r>
          </a:p>
          <a:p>
            <a:pPr>
              <a:lnSpc>
                <a:spcPts val="3779"/>
              </a:lnSpc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  <a:p>
            <a:pPr>
              <a:lnSpc>
                <a:spcPts val="3779"/>
              </a:lnSpc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  <a:p>
            <a:pPr indent="-28575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B4F898E-FAEF-8407-4015-69C0D051DE3E}"/>
              </a:ext>
            </a:extLst>
          </p:cNvPr>
          <p:cNvSpPr txBox="1"/>
          <p:nvPr/>
        </p:nvSpPr>
        <p:spPr>
          <a:xfrm>
            <a:off x="1028700" y="885825"/>
            <a:ext cx="1092294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4349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F2E0F-5389-170E-3845-524E2508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9047CC4-3C13-7121-C7C2-4B513F681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4111" y="2549403"/>
            <a:ext cx="16127089" cy="716609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lnSpc>
                <a:spcPts val="3779"/>
              </a:lnSpc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Room Type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Improve listing accuracy by ensuring room descriptions, photos, amenities, and prices match the actual experience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endParaRPr lang="en-GB" sz="2699" dirty="0">
              <a:solidFill>
                <a:schemeClr val="accent3">
                  <a:lumMod val="50000"/>
                </a:schemeClr>
              </a:solidFill>
              <a:latin typeface="Codec Pro"/>
            </a:endParaRPr>
          </a:p>
          <a:p>
            <a:pPr>
              <a:lnSpc>
                <a:spcPts val="3779"/>
              </a:lnSpc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Market Segment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Actively grow the corporate segment by proactive contracts negotiation and corporate rate agreements with companies, and travel agencies, as their accommodation partner for corporate travellers</a:t>
            </a:r>
          </a:p>
          <a:p>
            <a:pPr marL="457200" indent="-457200">
              <a:lnSpc>
                <a:spcPts val="3779"/>
              </a:lnSpc>
              <a:buFont typeface="Arial" panose="020B0604020202020204" pitchFamily="34" charset="0"/>
              <a:buChar char="•"/>
              <a:defRPr/>
            </a:pPr>
            <a:r>
              <a:rPr lang="en-GB" sz="2699" dirty="0">
                <a:solidFill>
                  <a:schemeClr val="accent3">
                    <a:lumMod val="50000"/>
                  </a:schemeClr>
                </a:solidFill>
                <a:latin typeface="Codec Pro"/>
              </a:rPr>
              <a:t>Incorporate more options in special-request fields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D72B437-07C0-7A91-7051-7B619D9E84DA}"/>
              </a:ext>
            </a:extLst>
          </p:cNvPr>
          <p:cNvSpPr txBox="1"/>
          <p:nvPr/>
        </p:nvSpPr>
        <p:spPr>
          <a:xfrm>
            <a:off x="1028700" y="885825"/>
            <a:ext cx="1092294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226216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22045-6FCB-1BD3-12B8-3B533DF5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5133D48-D8E5-AF11-52ED-7F8E30ACB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4111" y="2270821"/>
            <a:ext cx="16050889" cy="752088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r>
              <a:rPr lang="en-GB" sz="3000" dirty="0">
                <a:solidFill>
                  <a:srgbClr val="365236"/>
                </a:solidFill>
                <a:latin typeface="Codec Pro"/>
                <a:cs typeface="Times New Roman" panose="02020603050405020304" pitchFamily="18" charset="0"/>
              </a:rPr>
              <a:t>Hotel cancellations is a major financial burden in the hospitality industry as it causes  revenue loss,  poor allocation of resources, and reduced profitability</a:t>
            </a:r>
          </a:p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endParaRPr lang="en-GB" sz="3000" dirty="0">
              <a:solidFill>
                <a:srgbClr val="365236"/>
              </a:solidFill>
              <a:latin typeface="Codec Pro"/>
              <a:cs typeface="Times New Roman" panose="02020603050405020304" pitchFamily="18" charset="0"/>
            </a:endParaRPr>
          </a:p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r>
              <a:rPr lang="en-GB" sz="3000" dirty="0">
                <a:solidFill>
                  <a:srgbClr val="365236"/>
                </a:solidFill>
                <a:latin typeface="Codec Pro"/>
                <a:cs typeface="Times New Roman" panose="02020603050405020304" pitchFamily="18" charset="0"/>
              </a:rPr>
              <a:t>For Hotel Haven, this problem is especially significant, with a recorded revenue loss of $4.2 million from a 32.8% cancellation rate over a 3 years, 11 months period</a:t>
            </a:r>
          </a:p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endParaRPr lang="en-GB" sz="3000" dirty="0">
              <a:solidFill>
                <a:srgbClr val="365236"/>
              </a:solidFill>
              <a:latin typeface="Codec Pro"/>
              <a:cs typeface="Times New Roman" panose="02020603050405020304" pitchFamily="18" charset="0"/>
            </a:endParaRPr>
          </a:p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r>
              <a:rPr lang="en-GB" sz="3000" dirty="0">
                <a:solidFill>
                  <a:srgbClr val="365236"/>
                </a:solidFill>
                <a:latin typeface="Codec Pro"/>
                <a:cs typeface="Times New Roman" panose="02020603050405020304" pitchFamily="18" charset="0"/>
              </a:rPr>
              <a:t>While they are not the direct causes of cancellations, lead time, special requests and pricing are the strongest predictors of cancellations</a:t>
            </a:r>
          </a:p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endParaRPr lang="en-GB" sz="3000" dirty="0">
              <a:solidFill>
                <a:srgbClr val="365236"/>
              </a:solidFill>
              <a:latin typeface="Codec Pro"/>
              <a:cs typeface="Times New Roman" panose="02020603050405020304" pitchFamily="18" charset="0"/>
            </a:endParaRPr>
          </a:p>
          <a:p>
            <a:pPr marL="657505" lvl="1" indent="-328752">
              <a:lnSpc>
                <a:spcPts val="4263"/>
              </a:lnSpc>
              <a:buFont typeface="Arial"/>
              <a:buChar char="•"/>
              <a:defRPr/>
            </a:pPr>
            <a:r>
              <a:rPr lang="en-GB" sz="3000" dirty="0">
                <a:solidFill>
                  <a:srgbClr val="365236"/>
                </a:solidFill>
                <a:latin typeface="Codec Pro"/>
                <a:cs typeface="Times New Roman" panose="02020603050405020304" pitchFamily="18" charset="0"/>
              </a:rPr>
              <a:t>By leveraging machine learning models, Hotel Haven can make proactive, data-driven decisions that move the business from reacting to cancellations to preventing them, ultimately reducing cancellation rates, improving profitability, and strengthening overall business performance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5DB4D08-34EB-30F9-4D58-DDAE42A9FD3D}"/>
              </a:ext>
            </a:extLst>
          </p:cNvPr>
          <p:cNvSpPr txBox="1"/>
          <p:nvPr/>
        </p:nvSpPr>
        <p:spPr>
          <a:xfrm>
            <a:off x="1028700" y="885825"/>
            <a:ext cx="1092294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728296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8000" cy="5536950"/>
          </a:xfrm>
          <a:prstGeom prst="rect">
            <a:avLst/>
          </a:prstGeom>
          <a:solidFill>
            <a:srgbClr val="36523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28700" y="3209474"/>
            <a:ext cx="7133680" cy="151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 You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987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012B7-A91D-53CA-2E9A-B52A89B9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CF4EF5-B3A0-5176-CBB4-206A534B2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4111" y="2549403"/>
            <a:ext cx="16165190" cy="670889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671653" lvl="1" indent="-342900">
              <a:lnSpc>
                <a:spcPts val="4263"/>
              </a:lnSpc>
              <a:buFont typeface="+mj-lt"/>
              <a:buAutoNum type="arabicPeriod"/>
              <a:defRPr/>
            </a:pPr>
            <a:r>
              <a:rPr lang="en-GB" sz="3200" dirty="0"/>
              <a:t>D-EDGE (2024). </a:t>
            </a:r>
            <a:r>
              <a:rPr lang="en-GB" sz="3200" i="1" dirty="0"/>
              <a:t>Hotel Distribution Report</a:t>
            </a:r>
            <a:r>
              <a:rPr lang="en-GB" sz="3200" dirty="0"/>
              <a:t>. Available at: </a:t>
            </a:r>
            <a:r>
              <a:rPr lang="en-GB" sz="3200" dirty="0">
                <a:hlinkClick r:id="rId2"/>
              </a:rPr>
              <a:t>https://www.d-edge.com/avoid-guests-ghosting/</a:t>
            </a:r>
            <a:endParaRPr lang="en-GB" sz="3200" dirty="0"/>
          </a:p>
          <a:p>
            <a:pPr marL="671653" lvl="1" indent="-342900">
              <a:lnSpc>
                <a:spcPts val="4263"/>
              </a:lnSpc>
              <a:buFont typeface="+mj-lt"/>
              <a:buAutoNum type="arabicPeriod"/>
              <a:defRPr/>
            </a:pPr>
            <a:endParaRPr lang="en-GB" sz="3200" dirty="0"/>
          </a:p>
          <a:p>
            <a:pPr marL="671653" lvl="1" indent="-342900">
              <a:lnSpc>
                <a:spcPts val="4263"/>
              </a:lnSpc>
              <a:buFont typeface="+mj-lt"/>
              <a:buAutoNum type="arabicPeriod"/>
              <a:defRPr/>
            </a:pPr>
            <a:r>
              <a:rPr lang="en-GB" sz="3200" dirty="0" err="1"/>
              <a:t>HotelMinder</a:t>
            </a:r>
            <a:r>
              <a:rPr lang="en-GB" sz="3200" dirty="0"/>
              <a:t> (2024). </a:t>
            </a:r>
            <a:r>
              <a:rPr lang="en-GB" sz="3200" i="1" dirty="0"/>
              <a:t>Reduce Hotel Cancellations: 8 Practical Tips</a:t>
            </a:r>
            <a:r>
              <a:rPr lang="en-GB" sz="3200" dirty="0"/>
              <a:t>. Available at: </a:t>
            </a:r>
            <a:r>
              <a:rPr lang="en-GB" sz="3200" dirty="0">
                <a:hlinkClick r:id="rId3"/>
              </a:rPr>
              <a:t>https://www.hotelminder.com/8-tips-to-reduce-last-minute-hotel-cancellations-and-no-shows</a:t>
            </a:r>
            <a:endParaRPr lang="en-GB" sz="3200" dirty="0"/>
          </a:p>
          <a:p>
            <a:pPr marL="671653" lvl="1" indent="-342900">
              <a:lnSpc>
                <a:spcPts val="4263"/>
              </a:lnSpc>
              <a:buFont typeface="+mj-lt"/>
              <a:buAutoNum type="arabicPeriod"/>
              <a:defRPr/>
            </a:pPr>
            <a:endParaRPr lang="en-GB" sz="3200" dirty="0"/>
          </a:p>
          <a:p>
            <a:pPr marL="671653" lvl="1" indent="-342900">
              <a:lnSpc>
                <a:spcPts val="4263"/>
              </a:lnSpc>
              <a:buFont typeface="+mj-lt"/>
              <a:buAutoNum type="arabicPeriod"/>
              <a:defRPr/>
            </a:pPr>
            <a:r>
              <a:rPr lang="en-GB" sz="3200" dirty="0"/>
              <a:t>Smart Order. (2025). </a:t>
            </a:r>
            <a:r>
              <a:rPr lang="en-GB" sz="3200" i="1" dirty="0"/>
              <a:t>Hotel Minimize Hotel Booking cancellation</a:t>
            </a:r>
            <a:r>
              <a:rPr lang="en-GB" sz="3200" dirty="0"/>
              <a:t>. Available at: https://www.smartorder.ai/resources/blog/how-to-minimize-hotel-booking-cancellations/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E20678D-96E2-78BB-BFD6-5B877D8EFE6C}"/>
              </a:ext>
            </a:extLst>
          </p:cNvPr>
          <p:cNvSpPr txBox="1"/>
          <p:nvPr/>
        </p:nvSpPr>
        <p:spPr>
          <a:xfrm>
            <a:off x="1028700" y="885825"/>
            <a:ext cx="1092294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1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557148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1833</Words>
  <Application>Microsoft Office PowerPoint</Application>
  <PresentationFormat>Custom</PresentationFormat>
  <Paragraphs>216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Times New Roman</vt:lpstr>
      <vt:lpstr>Times New Roman Bold</vt:lpstr>
      <vt:lpstr>Arial</vt:lpstr>
      <vt:lpstr>Codec Pro Bold</vt:lpstr>
      <vt:lpstr>Calibri</vt:lpstr>
      <vt:lpstr>Codec Pro</vt:lpstr>
      <vt:lpstr>Aptos</vt:lpstr>
      <vt:lpstr>Times New Roman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Study and Report</dc:title>
  <cp:lastModifiedBy>Kuroyefa Leghemo</cp:lastModifiedBy>
  <cp:revision>69</cp:revision>
  <dcterms:created xsi:type="dcterms:W3CDTF">2006-08-16T00:00:00Z</dcterms:created>
  <dcterms:modified xsi:type="dcterms:W3CDTF">2026-05-22T09:57:33Z</dcterms:modified>
  <dc:identifier>DAHJvTMxnUw</dc:identifier>
</cp:coreProperties>
</file>